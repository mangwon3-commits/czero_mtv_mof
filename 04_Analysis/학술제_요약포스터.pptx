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20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20000"/>
            <a:ext cx="7560000" cy="540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6983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1" altLang="ko-KR">
                <a:solidFill>
                  <a:srgbClr val="FFFFFF"/>
                </a:solidFill>
                <a:latin typeface="맑은 고딕"/>
              </a:rPr>
              <a:t>CO₂ 포집을 위한 MTV-ZIF의 전산 설계; ZIF-69를 중심으로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46400"/>
            <a:ext cx="698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0" altLang="ko-KR">
                <a:solidFill>
                  <a:srgbClr val="D6E0EA"/>
                </a:solidFill>
                <a:latin typeface="맑은 고딕"/>
              </a:rPr>
              <a:t>습윤 배가스(CO₂ 0.15 bar · 298 K · RH 90%)에서 최적 치환율을 찾는 6단계 평가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90000"/>
            <a:ext cx="3311999" cy="2592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5200" y="1026000"/>
            <a:ext cx="316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1" altLang="ko-KR">
                <a:solidFill>
                  <a:srgbClr val="FFFFFF"/>
                </a:solidFill>
                <a:latin typeface="맑은 고딕"/>
              </a:rPr>
              <a:t>1.  연구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14000"/>
            <a:ext cx="331199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 altLang="ko-KR">
                <a:solidFill>
                  <a:srgbClr val="22262A"/>
                </a:solidFill>
                <a:latin typeface="맑은 고딕"/>
              </a:rPr>
              <a:t>실제 배가스에는 수분이 동반되므로 건조 조건의 CO₂ 흡착량만으로는 포집 소재를 평가할 수 없다. ZIF 유기 링커를 부분 치환한 다변량(MTV) 골격을 설계하고 다음 한 질문에 답한다.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925999"/>
            <a:ext cx="3311999" cy="342000"/>
          </a:xfrm>
          <a:prstGeom prst="rect">
            <a:avLst/>
          </a:prstGeom>
          <a:solidFill>
            <a:srgbClr val="E8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60000" y="1925999"/>
            <a:ext cx="57600" cy="342000"/>
          </a:xfrm>
          <a:prstGeom prst="rect">
            <a:avLst/>
          </a:prstGeom>
          <a:solidFill>
            <a:srgbClr val="8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1200" y="1998000"/>
            <a:ext cx="30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altLang="ko-KR">
                <a:solidFill>
                  <a:srgbClr val="1F3B57"/>
                </a:solidFill>
                <a:latin typeface="맑은 고딕"/>
              </a:rPr>
              <a:t>습윤 배가스에서 어느 치환율이 가장 유리한가?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365200"/>
            <a:ext cx="331199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 altLang="ko-KR">
                <a:solidFill>
                  <a:srgbClr val="22262A"/>
                </a:solidFill>
                <a:latin typeface="맑은 고딕"/>
              </a:rPr>
              <a:t>치환기가 늘면 정전기 자리가 늘어 CO₂ 흡착이 오르지만(가설 1), 같은 자리가 물도 잡는다(가설 2). 판정 기준을 계산 전에 등록하고 측정으로 가린다.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876399"/>
            <a:ext cx="3311999" cy="13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0000" y="4302000"/>
            <a:ext cx="3311999" cy="31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 altLang="ko-KR">
                <a:solidFill>
                  <a:srgbClr val="6A6A6A"/>
                </a:solidFill>
                <a:latin typeface="맑은 고딕"/>
              </a:rPr>
              <a:t>그림 1. ZIF-69(gme) 단위셀과 치환 가능한 24개 -Cl 자리. 벤조이미다졸레이트 b2 자리가 공동을 향한다.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683600"/>
            <a:ext cx="3311999" cy="2592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5200" y="4719600"/>
            <a:ext cx="316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1" altLang="ko-KR">
                <a:solidFill>
                  <a:srgbClr val="FFFFFF"/>
                </a:solidFill>
                <a:latin typeface="맑은 고딕"/>
              </a:rPr>
              <a:t>2.  계산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5007600"/>
            <a:ext cx="331199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 altLang="ko-KR">
                <a:solidFill>
                  <a:srgbClr val="22262A"/>
                </a:solidFill>
                <a:latin typeface="맑은 고딕"/>
              </a:rPr>
              <a:t>흡착 RASPA2 대정준 몬테카를로 · 헨리 상수와 흡착열 Widom 삽입 · 이완 GFN-FF(셀 고정) · 전하 PACMAN DDEC6 · 기공 지표 Zeo++. 설정은 전 계산에서 고정했다.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5526000"/>
          <a:ext cx="3311999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559"/>
                <a:gridCol w="2053440"/>
              </a:tblGrid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62A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43200" marR="43200" marT="0" marB="0" anchor="ctr">
                    <a:solidFill>
                      <a:srgbClr val="E8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2262A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43200" marR="43200" marT="0" marB="0" anchor="ctr">
                    <a:solidFill>
                      <a:srgbClr val="E8EEE1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사이클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초기화 5,000 + 생산 15,000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골격 힘장 / 전하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UFF_MOF / PACMAN DDEC6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CO₂ · 물 모델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García-Sánchez 2009 · TIP5P-Ew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정전기 / 컷오프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Ewald 1e-6 / 12 Å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재생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TSA 373 K / VSA 0.05 bar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60000" y="6739200"/>
            <a:ext cx="3311999" cy="2592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5200" y="6775200"/>
            <a:ext cx="316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1" altLang="ko-KR">
                <a:solidFill>
                  <a:srgbClr val="FFFFFF"/>
                </a:solidFill>
                <a:latin typeface="맑은 고딕"/>
              </a:rPr>
              <a:t>3.  작용기 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7063199"/>
            <a:ext cx="331199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 altLang="ko-KR">
                <a:solidFill>
                  <a:srgbClr val="22262A"/>
                </a:solidFill>
                <a:latin typeface="맑은 고딕"/>
              </a:rPr>
              <a:t>작용기 7종 중 -SO₃H만 목표대(30~40)에 든다. -OH를 -CH₃로 막은 -SO₂CH₃와 같은 치환율에서 2.41 kJ/mol 벌어지며, 그 차이가 수소결합 공여 -OH의 몫이다.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0000" y="7581600"/>
          <a:ext cx="3312000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520"/>
                <a:gridCol w="894240"/>
                <a:gridCol w="894240"/>
              </a:tblGrid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62A"/>
                          </a:solidFill>
                          <a:latin typeface="맑은 고딕"/>
                        </a:rPr>
                        <a:t>작용기 (최적 조성)</a:t>
                      </a:r>
                    </a:p>
                  </a:txBody>
                  <a:tcPr marL="43200" marR="43200" marT="0" marB="0" anchor="ctr">
                    <a:solidFill>
                      <a:srgbClr val="E8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2262A"/>
                          </a:solidFill>
                          <a:latin typeface="맑은 고딕"/>
                        </a:rPr>
                        <a:t>Q_st</a:t>
                      </a:r>
                    </a:p>
                  </a:txBody>
                  <a:tcPr marL="43200" marR="43200" marT="0" marB="0" anchor="ctr">
                    <a:solidFill>
                      <a:srgbClr val="E8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2262A"/>
                          </a:solidFill>
                          <a:latin typeface="맑은 고딕"/>
                        </a:rPr>
                        <a:t>무치환 대비</a:t>
                      </a:r>
                    </a:p>
                  </a:txBody>
                  <a:tcPr marL="43200" marR="43200" marT="0" marB="0" anchor="ctr">
                    <a:solidFill>
                      <a:srgbClr val="E8EEE1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-SO₃H (100%)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34.01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+11.59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-SO₂CH₃ (75%)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29.01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+6.59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-NO₂ (100%)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28.87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+6.45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-Br (100%)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22.73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+0.31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무치환 모체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22.42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62A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43200" marR="43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3887999" y="990000"/>
            <a:ext cx="3311999" cy="2592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003199" y="1026000"/>
            <a:ext cx="3167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1" altLang="ko-KR">
                <a:solidFill>
                  <a:srgbClr val="FFFFFF"/>
                </a:solidFill>
                <a:latin typeface="맑은 고딕"/>
              </a:rPr>
              <a:t>4.  결과</a:t>
            </a:r>
          </a:p>
        </p:txBody>
      </p:sp>
      <p:pic>
        <p:nvPicPr>
          <p:cNvPr id="25" name="Picture 24" descr="fig2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359" y="1314000"/>
            <a:ext cx="3113280" cy="16049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87999" y="2976553"/>
            <a:ext cx="3311999" cy="31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 altLang="ko-KR">
                <a:solidFill>
                  <a:srgbClr val="6A6A6A"/>
                </a:solidFill>
                <a:latin typeface="맑은 고딕"/>
              </a:rPr>
              <a:t>그림 2. 치환율에 따른 등량 흡착열과 0.15 bar 로딩. 흡착열 22.4→34.0 kJ/mol, 로딩 2.6배. 오차막대 1σ.</a:t>
            </a:r>
          </a:p>
        </p:txBody>
      </p:sp>
      <p:pic>
        <p:nvPicPr>
          <p:cNvPr id="27" name="Picture 26" descr="fig3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359" y="3358153"/>
            <a:ext cx="3113280" cy="161227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87999" y="5028030"/>
            <a:ext cx="3311999" cy="31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 altLang="ko-KR">
                <a:solidFill>
                  <a:srgbClr val="6A6A6A"/>
                </a:solidFill>
                <a:latin typeface="맑은 고딕"/>
              </a:rPr>
              <a:t>그림 3. RH90 유지율(좌축)과 H₂O/CO₂ 비(우축). 유지율은 25~75%에서 고원을 이루고 100%에서 꺾인다 — 점진적 악화가 아닌 문턱 현상.</a:t>
            </a:r>
          </a:p>
        </p:txBody>
      </p:sp>
      <p:pic>
        <p:nvPicPr>
          <p:cNvPr id="29" name="Picture 28" descr="fig4_wind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359" y="5409630"/>
            <a:ext cx="3113280" cy="22587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87999" y="7725986"/>
            <a:ext cx="3311999" cy="31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 altLang="ko-KR">
                <a:solidFill>
                  <a:srgbClr val="6A6A6A"/>
                </a:solidFill>
                <a:latin typeface="맑은 고딕"/>
              </a:rPr>
              <a:t>그림 4. 두 관문의 창. 안정성 창은 치환 자리 하나(58.3→62.5%) 사이에서 닫히고, 흡착 창은 66.7→75%에서 열린다. 회색이 두 창 사이의 간격.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7999" y="8107586"/>
            <a:ext cx="3311999" cy="6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887999" y="8849186"/>
            <a:ext cx="3311999" cy="31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 altLang="ko-KR">
                <a:solidFill>
                  <a:srgbClr val="6A6A6A"/>
                </a:solidFill>
                <a:latin typeface="맑은 고딕"/>
              </a:rPr>
              <a:t>그림 5. 전하 ON/OFF 차분 밀도맵 — 정전기가 CO₂를 끌어들인 자리 (정전기 기여 무치환 41% → 고치환 69%).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9324000"/>
            <a:ext cx="7560000" cy="1368000"/>
          </a:xfrm>
          <a:prstGeom prst="rect">
            <a:avLst/>
          </a:prstGeom>
          <a:solidFill>
            <a:srgbClr val="E8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0" y="9324000"/>
            <a:ext cx="7560000" cy="504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0000" y="9432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1" altLang="ko-KR">
                <a:solidFill>
                  <a:srgbClr val="1F3B57"/>
                </a:solidFill>
                <a:latin typeface="맑은 고딕"/>
              </a:rPr>
              <a:t>결론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8000" y="9630000"/>
            <a:ext cx="2592000" cy="846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608000" y="96912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altLang="ko-KR">
                <a:solidFill>
                  <a:srgbClr val="FFFFFF"/>
                </a:solidFill>
                <a:latin typeface="맑은 고딕"/>
              </a:rPr>
              <a:t>-SO₃H  58.3 % (14/24 자리)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8000" y="9943200"/>
            <a:ext cx="25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00" b="0" altLang="ko-KR">
                <a:solidFill>
                  <a:srgbClr val="DCE5EE"/>
                </a:solidFill>
                <a:latin typeface="맑은 고딕"/>
              </a:rPr>
              <a:t>습윤 TSA 작업 용량 0.833 ± 0.025 mol/kg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8000" y="10152000"/>
            <a:ext cx="25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00" b="0" altLang="ko-KR">
                <a:solidFill>
                  <a:srgbClr val="DCE5EE"/>
                </a:solidFill>
                <a:latin typeface="맑은 고딕"/>
              </a:rPr>
              <a:t>무치환 대비 +77 % · 차순위와 2.10σ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000" y="9655200"/>
            <a:ext cx="4068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altLang="ko-KR">
                <a:solidFill>
                  <a:srgbClr val="22262A"/>
                </a:solidFill>
                <a:latin typeface="맑은 고딕"/>
              </a:rPr>
              <a:t>① 건조 성능 1위(100% 치환)가 습윤에서 꼴찌다. CO₂를 잡는 -OH 자리가 물도 잡기 때문이며, 최대 치환은 최적이 아니다.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>
                <a:solidFill>
                  <a:srgbClr val="22262A"/>
                </a:solidFill>
                <a:latin typeface="맑은 고딕"/>
              </a:rPr>
              <a:t>② 안정성 창(≤58.3%)과 흡착 목표대 창(≥75%)이 겹치지 않아, -SO₃H 단독으로는 두 관문을 동시에 넘는 조성이 없다.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>
                <a:solidFill>
                  <a:srgbClr val="22262A"/>
                </a:solidFill>
                <a:latin typeface="맑은 고딕"/>
              </a:rPr>
              <a:t>③ 재생의 지배항은 흡착열이 아니라 현열(2~5배)이며, 이득은 작업 용량으로 난방비를 희석한 데서 온다.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